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280497E-6C2D-4AEA-85AF-202B1EB6CA0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Abrir apresentando o objetivo do trabalho: demonstrar monitoramento Oracle em tempo real usando ORDS como camada REST e um dashboard web simples. Reforçar que o foco é acadêmico e demonstrativo, não uma plataforma completa de observabilidade.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3D167A-4701-4B86-BFA6-0857FFABA2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Explicar que o projeto nasce da necessidade de transformar views administrativas em informação visível. O dashboard não é um Grafana, mas uma prova funcional de observabilidade Oracle.</a:t>
            </a:r>
          </a:p>
        </p:txBody>
      </p:sp>
      <p:sp>
        <p:nvSpPr>
          <p:cNvPr id="3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AAE6F3-B6CA-4616-A37C-8444D43F06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Usar este slide para deixar claro que a solução foi desenhada para a avaliação acadêmica: pequena, compreensível e funcional.</a:t>
            </a:r>
          </a:p>
        </p:txBody>
      </p:sp>
      <p:sp>
        <p:nvSpPr>
          <p:cNvPr id="3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F7804D-77ED-43D1-8E20-39004093C5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Destacar que o projeto não usa Node.js, Java, Maven ou Gradle. O frontend não possui dependências de pacote, e o Python entra para servir a página e simular usuários.</a:t>
            </a:r>
          </a:p>
        </p:txBody>
      </p:sp>
      <p:sp>
        <p:nvSpPr>
          <p:cNvPr id="3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EAAA6E-C6A0-42A0-B0E1-06361718C8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é o slide mais importante para explicar a solução. A escolha do ORDS simplifica a arquitetura, pois remove a necessidade de uma API escrita em Go, Python ou Node.</a:t>
            </a:r>
          </a:p>
        </p:txBody>
      </p:sp>
      <p:sp>
        <p:nvSpPr>
          <p:cNvPr id="3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079F52-80C9-4435-A76E-D66116317A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Explicar a separação entre infraestrutura e monitoramento. A pasta monitor-oracle concentra a entrega do dashboard e os scripts demonstrativos.</a:t>
            </a:r>
          </a:p>
        </p:txBody>
      </p:sp>
      <p:sp>
        <p:nvSpPr>
          <p:cNvPr id="3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086CFA-DD5E-41B1-AB00-61561B222F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Enfatizar que configuracao_ords.sql define o módulo monitor, os templates e os handlers. Cada endpoint executa um SELECT e retorna JSON ao dashboard.</a:t>
            </a:r>
          </a:p>
        </p:txBody>
      </p:sp>
      <p:sp>
        <p:nvSpPr>
          <p:cNvPr id="4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EFEC6B-6998-41D4-8CC8-9B90A1CB2A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Explicar que os usuários simulados não são usuários reais de negócio. Eles existem apenas para gerar carga e demonstrar que o monitoramento acompanha o ambiente.</a:t>
            </a:r>
          </a:p>
        </p:txBody>
      </p:sp>
      <p:sp>
        <p:nvSpPr>
          <p:cNvPr id="4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7B17DF-C340-44E4-B85C-451E5797BF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que o simulador é um recurso didático: ele gera comportamento observável para que a banca veja o painel mudando ao vivo.</a:t>
            </a:r>
          </a:p>
        </p:txBody>
      </p:sp>
      <p:sp>
        <p:nvSpPr>
          <p:cNvPr id="4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59435-9569-4951-B9C6-C74226B56B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slide conecta a parte técnica à experiência do usuário. Destacar a visualização do SQL completo como melhoria recente da interface.</a:t>
            </a:r>
          </a:p>
        </p:txBody>
      </p:sp>
      <p:sp>
        <p:nvSpPr>
          <p:cNvPr id="4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85BA2A-5C39-4D6F-9FB8-AAF86D5E88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Usar este slide como roteiro operacional no dia da banca. Se algo falhar, validar primeiro se Oracle e ORDS estão respondendo.</a:t>
            </a:r>
          </a:p>
        </p:txBody>
      </p:sp>
      <p:sp>
        <p:nvSpPr>
          <p:cNvPr id="4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272EB7-3AF2-4AE4-BF1C-52A5117282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Durante a apresentação, manter o simulador aberto em uma janela e o dashboard em outra. A banca deve conseguir ver a mudança dos indicadores.</a:t>
            </a:r>
          </a:p>
        </p:txBody>
      </p:sp>
      <p:sp>
        <p:nvSpPr>
          <p:cNvPr id="41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F08C48-39FB-4EF0-8B1F-5EC5F0C8B7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Relacionar com a teoria do módulo: tuning e diagnóstico exigem evidências, não tentativa e erro.</a:t>
            </a:r>
          </a:p>
        </p:txBody>
      </p:sp>
      <p:sp>
        <p:nvSpPr>
          <p:cNvPr id="41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D6A085-C468-4CD2-88A1-6B96DCF703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 transparente sobre limitações aumenta a qualidade acadêmica da entrega. Explicar que o projeto é demonstrativo e que haveria evolução para produção.</a:t>
            </a:r>
          </a:p>
        </p:txBody>
      </p:sp>
      <p:sp>
        <p:nvSpPr>
          <p:cNvPr id="42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16DD0A-2DAC-4D40-8E88-2CDF4D27A6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Fechar reforçando que a entrega cumpre a premissa: painel simples, atualização periódica e interpretação das métricas escolhidas.</a:t>
            </a:r>
          </a:p>
        </p:txBody>
      </p:sp>
      <p:sp>
        <p:nvSpPr>
          <p:cNvPr id="42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554535-E178-4AA8-A710-9E7F382C15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Usar este slide apenas se solicitado pela banca ou como encerramento formal.</a:t>
            </a:r>
          </a:p>
        </p:txBody>
      </p:sp>
      <p:sp>
        <p:nvSpPr>
          <p:cNvPr id="42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E28DFD-3E78-422A-8AAF-77099BA959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localhost:8181/ords/monitor_app/monitor/stats/waits" TargetMode="External"/><Relationship Id="rId3" Type="http://schemas.openxmlformats.org/officeDocument/2006/relationships/hyperlink" Target="http://localhost:8181/ords/monitor_app/monitor/health" TargetMode="External"/><Relationship Id="rId7" Type="http://schemas.openxmlformats.org/officeDocument/2006/relationships/hyperlink" Target="http://localhost:8181/ords/monitor_app/monitor/stats/session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localhost:8181/ords/monitor_app/monitor/stats/container" TargetMode="External"/><Relationship Id="rId5" Type="http://schemas.openxmlformats.org/officeDocument/2006/relationships/hyperlink" Target="http://localhost:8181/ords/monitor_app/monitor/stats/database" TargetMode="External"/><Relationship Id="rId10" Type="http://schemas.openxmlformats.org/officeDocument/2006/relationships/hyperlink" Target="http://localhost:8181/ords/monitor_app/monitor/stats/tablespaces" TargetMode="External"/><Relationship Id="rId4" Type="http://schemas.openxmlformats.org/officeDocument/2006/relationships/hyperlink" Target="http://localhost:8181/ords/monitor_app/monitor/stats/instance" TargetMode="External"/><Relationship Id="rId9" Type="http://schemas.openxmlformats.org/officeDocument/2006/relationships/hyperlink" Target="http://localhost:8181/ords/monitor_app/monitor/stats/sq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181/ords/monitor_app/monitor/health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nal%20Oracle%20adm/projetoOracleAdm/monitor-oracle/scripts/simular_oracle.bat" TargetMode="External"/><Relationship Id="rId4" Type="http://schemas.openxmlformats.org/officeDocument/2006/relationships/hyperlink" Target="Final%20Oracle%20adm/projetoOracleAdm/monitor-oracle/web/abrir_navegador.ba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901520" cy="685764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320040" y="594360"/>
            <a:ext cx="15084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Dashboard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Oracle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com 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20040" y="2697480"/>
            <a:ext cx="1097280" cy="360"/>
          </a:xfrm>
          <a:prstGeom prst="line">
            <a:avLst/>
          </a:prstGeom>
          <a:ln w="15240">
            <a:solidFill>
              <a:srgbClr val="4AA3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20040" y="3063240"/>
            <a:ext cx="12340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Projeto Final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ADM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Monitoramento, ORDS e Dashboard Web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20040" y="580644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Pós-graduação em Engenharia de Dados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PUC Minas · Junho/2026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2331720" y="841320"/>
            <a:ext cx="43887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Ariel Coelho Faria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Liliane Reis dos Santos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Marcus Magno Pinheiro Rodrigues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Mateus Abreu Ferreira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331720" y="1828800"/>
            <a:ext cx="2742840" cy="1096920"/>
          </a:xfrm>
          <a:prstGeom prst="rect">
            <a:avLst/>
          </a:prstGeom>
          <a:solidFill>
            <a:srgbClr val="EAF3FB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496240" y="1984320"/>
            <a:ext cx="2413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▦ Foco do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496240" y="2322720"/>
            <a:ext cx="24138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Expor métricas administrativas do Oracle por endpoints REST e apresentá-las em uma interface web simples.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349240" y="1828800"/>
            <a:ext cx="2834280" cy="1096920"/>
          </a:xfrm>
          <a:prstGeom prst="rect">
            <a:avLst/>
          </a:prstGeom>
          <a:solidFill>
            <a:srgbClr val="E9F7EF"/>
          </a:solidFill>
          <a:ln w="11430">
            <a:solidFill>
              <a:srgbClr val="BEE7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513760" y="198432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◆ Mensagem central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513760" y="2322720"/>
            <a:ext cx="250524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Monitoramento começa por evidências: sessões, waits, SQLs custosos, instância e tablespaces.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458200" y="1828800"/>
            <a:ext cx="2834280" cy="1096920"/>
          </a:xfrm>
          <a:prstGeom prst="rect">
            <a:avLst/>
          </a:prstGeom>
          <a:solidFill>
            <a:srgbClr val="F8FAFC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622720" y="198432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✓ Resultado esperado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8622720" y="2322720"/>
            <a:ext cx="250524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Um painel demonstrável, atualizado periodicamente, sem backend adicional além do ORDS.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2331720" y="3694320"/>
            <a:ext cx="8183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Arquitetura local com Oracle Free 23ai, ORDS, SQL/PLSQL, Python e dashboard HTML/CSS/JavaScript.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2331720" y="41605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apresentação explica a proposta acadêmica, a arquitetura técnica, os scripts do projeto, a simulação de carga e o fluxo de demonstração.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233172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Contextualização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Contextualização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Por que observar o banco em tempo real?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594360" y="1600200"/>
            <a:ext cx="34286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594360" y="1600200"/>
            <a:ext cx="3428640" cy="4536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758880" y="176472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1527120" y="173736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Banco em operação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1527120" y="2039040"/>
            <a:ext cx="23313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 Oracle mantém informações sobre instância, banco, sessões, eventos de espera, SQLs e uso de espaço.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4389120" y="1600200"/>
            <a:ext cx="34286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4389120" y="1600200"/>
            <a:ext cx="3428640" cy="45360"/>
          </a:xfrm>
          <a:prstGeom prst="rect">
            <a:avLst/>
          </a:prstGeom>
          <a:solidFill>
            <a:srgbClr val="188038"/>
          </a:solidFill>
          <a:ln w="1270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4553640" y="176472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5321880" y="173736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Monitoramento como evidência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5321880" y="2039040"/>
            <a:ext cx="23313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Em vez de tratar lentidão como diagnóstico, o projeto mostra dados objetivos do ambiente.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8183880" y="1600200"/>
            <a:ext cx="34286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8183880" y="1600200"/>
            <a:ext cx="3428640" cy="4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8348400" y="176472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9116640" y="173736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Visualização simples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9116640" y="2039040"/>
            <a:ext cx="23313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Uma interface web facilita a leitura das métricas durante a apresentação e a simulação de carga.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777240" y="3657600"/>
            <a:ext cx="10606680" cy="1234080"/>
          </a:xfrm>
          <a:prstGeom prst="rect">
            <a:avLst/>
          </a:prstGeom>
          <a:solidFill>
            <a:srgbClr val="EFF6FF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941760" y="3813120"/>
            <a:ext cx="10277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Problema resumido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941760" y="4151520"/>
            <a:ext cx="102776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Como demonstrar, em um ambiente local e acadêmico, que o Oracle pode ser observado em tempo real por meio de views administrativas, endpoints REST e uma interface web simples?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960120" y="525780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• leitura de métricas atuais do banco;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• organização das consultas em endpoints REST via ORDS;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• atualização periódica no dashboard;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• simulação de usuários para gerar movimento observável.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Objetivo do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Objetivo do Projeto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Do Oracle local ao dashboard de métricas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594360" y="1600200"/>
            <a:ext cx="5028840" cy="3291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Text 8"/>
          <p:cNvSpPr/>
          <p:nvPr/>
        </p:nvSpPr>
        <p:spPr>
          <a:xfrm>
            <a:off x="758880" y="1755720"/>
            <a:ext cx="469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Objetivo geral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758880" y="2094120"/>
            <a:ext cx="4699800" cy="267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Montar uma solução local de monitoramento Oracle.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Consultar views administrativas em tempo real.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Publicar dados por endpoints REST no ORDS.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Exibir as métricas em interface web atualizada a cada 10 segundos.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6080760" y="1600200"/>
            <a:ext cx="5303160" cy="3291480"/>
          </a:xfrm>
          <a:prstGeom prst="rect">
            <a:avLst/>
          </a:prstGeom>
          <a:solidFill>
            <a:srgbClr val="E9F7EF"/>
          </a:solidFill>
          <a:ln w="11430">
            <a:solidFill>
              <a:srgbClr val="BEE7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6245280" y="1755720"/>
            <a:ext cx="497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Proposta de entrega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6245280" y="2094120"/>
            <a:ext cx="4974120" cy="267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Oracle Free 23ai executado em container.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Usuário MONITOR_APP com permissões controladas.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Scripts SQL para ORDS e simulação de carga.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Frontend estático consumindo a API via Fetch API.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822960" y="5440680"/>
            <a:ext cx="10606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Critério central: simplicidade, clareza e funcionamento demonstrável.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Tecnologias Utilizadas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Tecnologias Utilizadas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Componentes identificados no projeto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594360" y="1508760"/>
            <a:ext cx="3428640" cy="1325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Text 8"/>
          <p:cNvSpPr/>
          <p:nvPr/>
        </p:nvSpPr>
        <p:spPr>
          <a:xfrm>
            <a:off x="758880" y="166428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DB  Oracle Database Free 23ai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758880" y="2002680"/>
            <a:ext cx="3099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Banco monitorado e origem das views administrativas.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4434840" y="1508760"/>
            <a:ext cx="3428640" cy="1325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4599360" y="166428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REST  Oracle REST Data Services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4599360" y="2002680"/>
            <a:ext cx="3099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Camada de API que publica consultas SQL como endpoints HTTP.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8275320" y="1508760"/>
            <a:ext cx="3428640" cy="1325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8439840" y="166428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SQL  SQL/PLSQL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8439840" y="2002680"/>
            <a:ext cx="3099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Criação de usuários, grants, endpoints ORDS e objetos de simulação.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594360" y="3337560"/>
            <a:ext cx="3428640" cy="1325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758880" y="349308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6D28D9"/>
                </a:solidFill>
                <a:effectLst/>
                <a:uFillTx/>
                <a:latin typeface="Aptos"/>
                <a:ea typeface="Aptos"/>
              </a:rPr>
              <a:t>WEB  HTML, CSS e JavaScript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758880" y="3831480"/>
            <a:ext cx="3099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Interface estática com Fetch API e atualização automática.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4434840" y="3337560"/>
            <a:ext cx="3428640" cy="1325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4599360" y="349308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PY  Python + oracledb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4599360" y="3831480"/>
            <a:ext cx="3099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Servidor local opcional e simulador de usuários/sessões.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2"/>
          <p:cNvSpPr/>
          <p:nvPr/>
        </p:nvSpPr>
        <p:spPr>
          <a:xfrm>
            <a:off x="8275320" y="3337560"/>
            <a:ext cx="3428640" cy="1325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8439840" y="349308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DOC  Docker Compose / Containerfile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8439840" y="3831480"/>
            <a:ext cx="3099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Subida local do Oracle, ORDS, volumes e portas.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960120" y="5440680"/>
            <a:ext cx="10286640" cy="502560"/>
          </a:xfrm>
          <a:prstGeom prst="rect">
            <a:avLst/>
          </a:prstGeom>
          <a:solidFill>
            <a:srgbClr val="EFF6FF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1124640" y="5596200"/>
            <a:ext cx="9957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Decisão arquitetural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7"/>
          <p:cNvSpPr/>
          <p:nvPr/>
        </p:nvSpPr>
        <p:spPr>
          <a:xfrm>
            <a:off x="1124640" y="5825160"/>
            <a:ext cx="99576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 projeto usa o ORDS como API para evitar um backend adicional. Assim, o foco fica na leitura das views Oracle, organização dos endpoints e apresentação das métricas.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Arquitetura da Solução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Arquitetura da Solução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fim a fim do monitoramento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2148840" y="3126960"/>
            <a:ext cx="914400" cy="360"/>
          </a:xfrm>
          <a:prstGeom prst="line">
            <a:avLst/>
          </a:prstGeom>
          <a:ln w="1524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4526280" y="3126960"/>
            <a:ext cx="914400" cy="360"/>
          </a:xfrm>
          <a:prstGeom prst="line">
            <a:avLst/>
          </a:prstGeom>
          <a:ln w="1524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6903720" y="3126960"/>
            <a:ext cx="914400" cy="360"/>
          </a:xfrm>
          <a:prstGeom prst="line">
            <a:avLst/>
          </a:prstGeom>
          <a:ln w="1524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9281160" y="3126960"/>
            <a:ext cx="914400" cy="360"/>
          </a:xfrm>
          <a:prstGeom prst="line">
            <a:avLst/>
          </a:prstGeom>
          <a:ln w="1524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94360" y="2331720"/>
            <a:ext cx="1554120" cy="1599840"/>
          </a:xfrm>
          <a:prstGeom prst="rect">
            <a:avLst/>
          </a:prstGeom>
          <a:solidFill>
            <a:srgbClr val="F3E8FF"/>
          </a:solidFill>
          <a:ln w="1397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685800" y="24598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D28D9"/>
                </a:solidFill>
                <a:effectLst/>
                <a:uFillTx/>
                <a:latin typeface="Aptos"/>
                <a:ea typeface="Aptos"/>
              </a:rPr>
              <a:t>Usuários / Python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740520" y="2788920"/>
            <a:ext cx="126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Sessões, consultas e locks artificiais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3063240" y="2331720"/>
            <a:ext cx="1554120" cy="1599840"/>
          </a:xfrm>
          <a:prstGeom prst="rect">
            <a:avLst/>
          </a:prstGeom>
          <a:solidFill>
            <a:srgbClr val="EAF3FB"/>
          </a:solidFill>
          <a:ln w="1397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3154680" y="24598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Oracle Free 23ai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3209400" y="2788920"/>
            <a:ext cx="126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Banco local em container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5440680" y="2331720"/>
            <a:ext cx="1554120" cy="1599840"/>
          </a:xfrm>
          <a:prstGeom prst="rect">
            <a:avLst/>
          </a:prstGeom>
          <a:solidFill>
            <a:srgbClr val="E9F7EF"/>
          </a:solidFill>
          <a:ln w="1397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5532120" y="24598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V$ Views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5586840" y="2788920"/>
            <a:ext cx="126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Instância, sessões, waits, SQLs e tablespaces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7818120" y="2331720"/>
            <a:ext cx="1554120" cy="1599840"/>
          </a:xfrm>
          <a:prstGeom prst="rect">
            <a:avLst/>
          </a:prstGeom>
          <a:solidFill>
            <a:srgbClr val="FFF7E6"/>
          </a:solidFill>
          <a:ln w="1397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7909560" y="24598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ORDS REST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7964280" y="2788920"/>
            <a:ext cx="126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Endpoints HTTP publicados no schema MONITOR_APP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10195560" y="2331720"/>
            <a:ext cx="1554120" cy="1599840"/>
          </a:xfrm>
          <a:prstGeom prst="rect">
            <a:avLst/>
          </a:prstGeom>
          <a:solidFill>
            <a:srgbClr val="EAF3FB"/>
          </a:solidFill>
          <a:ln w="1397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10287000" y="245988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Dashboard Web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10341720" y="2788920"/>
            <a:ext cx="126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Cards, tabelas e atualização a cada 10s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960120" y="4709160"/>
            <a:ext cx="10286640" cy="776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1124640" y="4864680"/>
            <a:ext cx="9957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Leitura da arquitetura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1124640" y="5203080"/>
            <a:ext cx="9957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 ORDS atua como camada de API nativa do ecossistema Oracle: cada endpoint executa uma consulta SQL e retorna JSON para o dashboard HTML/CSS/JavaScript.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Estrutura do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Estrutura do Projeto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Pastas principais e responsabilidades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594360" y="1417320"/>
            <a:ext cx="5303160" cy="448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758880" y="1572840"/>
            <a:ext cx="497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Árvore principal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758880" y="1911240"/>
            <a:ext cx="4974120" cy="386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projetoOracleAdm/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├── README.md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├── Premissa.md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├── free-full-23ai/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│   ├── compose/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│   ├── containerfile/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│   ├── manual/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│   └── script/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└── monitor-oracle/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   ├── docs/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   ├── scripts/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   ├── sql/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   └── web/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6400800" y="14173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Função de cada bloco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6355080" y="1828800"/>
            <a:ext cx="52574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6355080" y="1828800"/>
            <a:ext cx="5257440" cy="4536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6519600" y="199332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7287840" y="1965960"/>
            <a:ext cx="4160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free-full-23ai/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7287840" y="2267640"/>
            <a:ext cx="41601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Subida do Oracle Free 23ai e ORDS em containers.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6355080" y="2633400"/>
            <a:ext cx="52574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1" name="Shape 17"/>
          <p:cNvSpPr/>
          <p:nvPr/>
        </p:nvSpPr>
        <p:spPr>
          <a:xfrm>
            <a:off x="6355080" y="2633400"/>
            <a:ext cx="5257440" cy="45360"/>
          </a:xfrm>
          <a:prstGeom prst="rect">
            <a:avLst/>
          </a:prstGeom>
          <a:solidFill>
            <a:srgbClr val="188038"/>
          </a:solidFill>
          <a:ln w="1270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6519600" y="279792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7287840" y="2770560"/>
            <a:ext cx="4160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monitor-oracle/sql/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7287840" y="3072240"/>
            <a:ext cx="41601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Usuário MONITOR_APP, grants, configuração ORDS e usuários de simulação.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6355080" y="3438000"/>
            <a:ext cx="52574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6355080" y="3438000"/>
            <a:ext cx="5257440" cy="4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6519600" y="36028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7287840" y="3575160"/>
            <a:ext cx="4160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monitor-oracle/scripts/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7287840" y="3877200"/>
            <a:ext cx="41601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Simulador Python de carga, sessões e locks.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6355080" y="4242960"/>
            <a:ext cx="52574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1" name="Shape 27"/>
          <p:cNvSpPr/>
          <p:nvPr/>
        </p:nvSpPr>
        <p:spPr>
          <a:xfrm>
            <a:off x="6355080" y="4242960"/>
            <a:ext cx="5257440" cy="45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6519600" y="44074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D28D9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9"/>
          <p:cNvSpPr/>
          <p:nvPr/>
        </p:nvSpPr>
        <p:spPr>
          <a:xfrm>
            <a:off x="7287840" y="4380120"/>
            <a:ext cx="4160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monitor-oracle/web/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0"/>
          <p:cNvSpPr/>
          <p:nvPr/>
        </p:nvSpPr>
        <p:spPr>
          <a:xfrm>
            <a:off x="7287840" y="4681800"/>
            <a:ext cx="41601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Dashboard estático e .bat para abrir a interface local.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1"/>
          <p:cNvSpPr/>
          <p:nvPr/>
        </p:nvSpPr>
        <p:spPr>
          <a:xfrm>
            <a:off x="6355080" y="5047560"/>
            <a:ext cx="52574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6" name="Shape 32"/>
          <p:cNvSpPr/>
          <p:nvPr/>
        </p:nvSpPr>
        <p:spPr>
          <a:xfrm>
            <a:off x="6355080" y="5047560"/>
            <a:ext cx="5257440" cy="4536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3"/>
          <p:cNvSpPr/>
          <p:nvPr/>
        </p:nvSpPr>
        <p:spPr>
          <a:xfrm>
            <a:off x="6519600" y="52120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4"/>
          <p:cNvSpPr/>
          <p:nvPr/>
        </p:nvSpPr>
        <p:spPr>
          <a:xfrm>
            <a:off x="7287840" y="5184720"/>
            <a:ext cx="4160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monitor-oracle/docs/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5"/>
          <p:cNvSpPr/>
          <p:nvPr/>
        </p:nvSpPr>
        <p:spPr>
          <a:xfrm>
            <a:off x="7287840" y="5486400"/>
            <a:ext cx="416016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Passos, roteiro e explicação das métricas.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Banco de Dados e Configuração ORDS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Banco de Dados e </a:t>
            </a:r>
            <a:r>
              <a:rPr lang="en-US" sz="2600" b="1" u="none" strike="noStrike" dirty="0" err="1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Configuração</a:t>
            </a:r>
            <a:r>
              <a:rPr lang="en-US" sz="260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 ORDS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Como as métricas viram endpoints REST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594360" y="1417320"/>
            <a:ext cx="3702960" cy="4480200"/>
          </a:xfrm>
          <a:prstGeom prst="rect">
            <a:avLst/>
          </a:prstGeom>
          <a:solidFill>
            <a:srgbClr val="EFF6FF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758880" y="1572840"/>
            <a:ext cx="3373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MONITOR_APP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758880" y="1911240"/>
            <a:ext cx="3373920" cy="386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Usuário de monitoramento criado por grants_monitoramento.sql.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Recebe permissões sobre V_$INSTANCE, V_$DATABASE, V_$SESSION, V_$SYSTEM_EVENT, V_$SQLAREA e DBA_TABLESPACE_USAGE_METRICS.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É habilitado no ORDS para publicar os endpoints REST.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4617720" y="1417320"/>
            <a:ext cx="6949080" cy="448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4782240" y="1572840"/>
            <a:ext cx="662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Endpoints principais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4782240" y="1911240"/>
            <a:ext cx="6620040" cy="386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/health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/stats/instance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/stats/database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/stats/container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/stats/sessions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/stats/waits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/stats/</a:t>
            </a:r>
            <a:r>
              <a:rPr lang="en-US" sz="150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sql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GET /stats/tablespaces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4846320" y="5376600"/>
            <a:ext cx="6263280" cy="255600"/>
          </a:xfrm>
          <a:prstGeom prst="rect">
            <a:avLst/>
          </a:prstGeom>
          <a:solidFill>
            <a:srgbClr val="EAF3FB"/>
          </a:solidFill>
          <a:ln w="6350">
            <a:solidFill>
              <a:srgbClr val="EAF3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dirty="0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URL base: http://localhost:8181/ords/monitor_app/monitor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tângulo 1">
            <a:hlinkClick r:id="rId3"/>
            <a:extLst>
              <a:ext uri="{FF2B5EF4-FFF2-40B4-BE49-F238E27FC236}">
                <a16:creationId xmlns:a16="http://schemas.microsoft.com/office/drawing/2014/main" id="{DF66C0C4-0993-609E-6F07-0B540FAD27BB}"/>
              </a:ext>
            </a:extLst>
          </p:cNvPr>
          <p:cNvSpPr/>
          <p:nvPr/>
        </p:nvSpPr>
        <p:spPr>
          <a:xfrm>
            <a:off x="4759238" y="1900354"/>
            <a:ext cx="1044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hlinkClick r:id="rId4"/>
            <a:extLst>
              <a:ext uri="{FF2B5EF4-FFF2-40B4-BE49-F238E27FC236}">
                <a16:creationId xmlns:a16="http://schemas.microsoft.com/office/drawing/2014/main" id="{6C162F2D-0DEC-B523-2491-0BAAF87BC0A7}"/>
              </a:ext>
            </a:extLst>
          </p:cNvPr>
          <p:cNvSpPr/>
          <p:nvPr/>
        </p:nvSpPr>
        <p:spPr>
          <a:xfrm>
            <a:off x="4759238" y="2130510"/>
            <a:ext cx="1674222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hlinkClick r:id="rId5"/>
            <a:extLst>
              <a:ext uri="{FF2B5EF4-FFF2-40B4-BE49-F238E27FC236}">
                <a16:creationId xmlns:a16="http://schemas.microsoft.com/office/drawing/2014/main" id="{9582E9AC-0910-E8CE-9533-FCA6031DF938}"/>
              </a:ext>
            </a:extLst>
          </p:cNvPr>
          <p:cNvSpPr/>
          <p:nvPr/>
        </p:nvSpPr>
        <p:spPr>
          <a:xfrm>
            <a:off x="4759238" y="2360666"/>
            <a:ext cx="1697227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hlinkClick r:id="rId6"/>
            <a:extLst>
              <a:ext uri="{FF2B5EF4-FFF2-40B4-BE49-F238E27FC236}">
                <a16:creationId xmlns:a16="http://schemas.microsoft.com/office/drawing/2014/main" id="{568E3A3E-365C-7686-AAC5-F474BFFEBFC5}"/>
              </a:ext>
            </a:extLst>
          </p:cNvPr>
          <p:cNvSpPr/>
          <p:nvPr/>
        </p:nvSpPr>
        <p:spPr>
          <a:xfrm>
            <a:off x="4759238" y="2590822"/>
            <a:ext cx="1697227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hlinkClick r:id="rId7"/>
            <a:extLst>
              <a:ext uri="{FF2B5EF4-FFF2-40B4-BE49-F238E27FC236}">
                <a16:creationId xmlns:a16="http://schemas.microsoft.com/office/drawing/2014/main" id="{C6278C90-6422-6EC7-4D2B-0D5F6EC933B4}"/>
              </a:ext>
            </a:extLst>
          </p:cNvPr>
          <p:cNvSpPr/>
          <p:nvPr/>
        </p:nvSpPr>
        <p:spPr>
          <a:xfrm>
            <a:off x="4759238" y="2820978"/>
            <a:ext cx="1697227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8"/>
            <a:extLst>
              <a:ext uri="{FF2B5EF4-FFF2-40B4-BE49-F238E27FC236}">
                <a16:creationId xmlns:a16="http://schemas.microsoft.com/office/drawing/2014/main" id="{3C0B6B2C-0644-8A21-4F60-3A2E79934399}"/>
              </a:ext>
            </a:extLst>
          </p:cNvPr>
          <p:cNvSpPr/>
          <p:nvPr/>
        </p:nvSpPr>
        <p:spPr>
          <a:xfrm>
            <a:off x="4759238" y="3051134"/>
            <a:ext cx="1325886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hlinkClick r:id="rId9"/>
            <a:extLst>
              <a:ext uri="{FF2B5EF4-FFF2-40B4-BE49-F238E27FC236}">
                <a16:creationId xmlns:a16="http://schemas.microsoft.com/office/drawing/2014/main" id="{B69F3E7A-B2C7-6FA6-93D1-B7A8FF979DD6}"/>
              </a:ext>
            </a:extLst>
          </p:cNvPr>
          <p:cNvSpPr/>
          <p:nvPr/>
        </p:nvSpPr>
        <p:spPr>
          <a:xfrm>
            <a:off x="4759238" y="3281290"/>
            <a:ext cx="1195256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hlinkClick r:id="rId10"/>
            <a:extLst>
              <a:ext uri="{FF2B5EF4-FFF2-40B4-BE49-F238E27FC236}">
                <a16:creationId xmlns:a16="http://schemas.microsoft.com/office/drawing/2014/main" id="{3A0B23CD-B3BC-E2AB-BE47-4D144BA52FFF}"/>
              </a:ext>
            </a:extLst>
          </p:cNvPr>
          <p:cNvSpPr/>
          <p:nvPr/>
        </p:nvSpPr>
        <p:spPr>
          <a:xfrm>
            <a:off x="4759238" y="3511447"/>
            <a:ext cx="1968146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Usuários de Simulação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Usuários de Simulação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Massa de dados para movimentar o dashboard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594360" y="1508760"/>
            <a:ext cx="3337200" cy="3154320"/>
          </a:xfrm>
          <a:prstGeom prst="rect">
            <a:avLst/>
          </a:prstGeom>
          <a:solidFill>
            <a:srgbClr val="E9F7EF"/>
          </a:solidFill>
          <a:ln w="11430">
            <a:solidFill>
              <a:srgbClr val="BEE7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758880" y="1664280"/>
            <a:ext cx="3008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SIM_OWNER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758880" y="2002680"/>
            <a:ext cx="3008160" cy="254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Dono dos objetos de laboratório.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Tabela CARGA_LAB com 100.000 registros simulados.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Tabela LOCK_LAB para gerar contenção.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Coleta de estatísticas com DBMS_STATS.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4434840" y="1508760"/>
            <a:ext cx="3337200" cy="315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4599360" y="1664280"/>
            <a:ext cx="3008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SIM_USER_01/02/03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4599360" y="2002680"/>
            <a:ext cx="3008160" cy="254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Usuários usados pelo Python.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Permissão de conexão no Oracle.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SELECT em CARGA_LAB.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SELECT/UPDATE em LOCK_LAB.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8275320" y="1508760"/>
            <a:ext cx="3337200" cy="3154320"/>
          </a:xfrm>
          <a:prstGeom prst="rect">
            <a:avLst/>
          </a:prstGeom>
          <a:solidFill>
            <a:srgbClr val="FFF7E6"/>
          </a:solidFill>
          <a:ln w="11430">
            <a:solidFill>
              <a:srgbClr val="FED7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8439840" y="1664280"/>
            <a:ext cx="3008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Por que simular?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8439840" y="2002680"/>
            <a:ext cx="3008160" cy="254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Sem atividade, o dashboard mostra poucos dados.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A simulação cria sessões, consultas, CPU e locks.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O efeito aparece em tempo real nas métricas.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1097280" y="5349240"/>
            <a:ext cx="10058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usuarios_simulacao.sql prepara o cenário de demonstração para que a interface mostre movimento real durante a apresentação.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Simulador 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Simulador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Sessões e carga controlada no banco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594360" y="1463040"/>
            <a:ext cx="3291480" cy="42973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758880" y="1618560"/>
            <a:ext cx="2962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simular_usuarios_oracle.py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758880" y="1956960"/>
            <a:ext cx="2962440" cy="368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Abre conexões simultâneas usando SIM_USER_01, SIM_USER_02 e SIM_USER_03.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Executa consultas indexadas, agregações, varreduras e carga de CPU.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Atualiza LOCK_LAB ocasionalmente para gerar contenção.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4389120" y="1463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Perfis de carga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4389120" y="1965960"/>
            <a:ext cx="6949080" cy="776880"/>
          </a:xfrm>
          <a:prstGeom prst="rect">
            <a:avLst/>
          </a:prstGeom>
          <a:solidFill>
            <a:srgbClr val="E9F7E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3" name="Shape 12"/>
          <p:cNvSpPr/>
          <p:nvPr/>
        </p:nvSpPr>
        <p:spPr>
          <a:xfrm>
            <a:off x="4389120" y="1965960"/>
            <a:ext cx="6949080" cy="45360"/>
          </a:xfrm>
          <a:prstGeom prst="rect">
            <a:avLst/>
          </a:prstGeom>
          <a:solidFill>
            <a:srgbClr val="188038"/>
          </a:solidFill>
          <a:ln w="1270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4553640" y="21304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suave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5321880" y="2103120"/>
            <a:ext cx="5851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3 workers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5321880" y="2404800"/>
            <a:ext cx="58518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baixo movimento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4389120" y="3017520"/>
            <a:ext cx="6949080" cy="776880"/>
          </a:xfrm>
          <a:prstGeom prst="rect">
            <a:avLst/>
          </a:prstGeom>
          <a:solidFill>
            <a:srgbClr val="EAF3FB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8" name="Shape 17"/>
          <p:cNvSpPr/>
          <p:nvPr/>
        </p:nvSpPr>
        <p:spPr>
          <a:xfrm>
            <a:off x="4389120" y="3017520"/>
            <a:ext cx="6949080" cy="4536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8"/>
          <p:cNvSpPr/>
          <p:nvPr/>
        </p:nvSpPr>
        <p:spPr>
          <a:xfrm>
            <a:off x="4553640" y="318204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media / média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5321880" y="3154680"/>
            <a:ext cx="5851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8 workers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5321880" y="3456360"/>
            <a:ext cx="58518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uso constante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4389120" y="4069080"/>
            <a:ext cx="6949080" cy="776880"/>
          </a:xfrm>
          <a:prstGeom prst="rect">
            <a:avLst/>
          </a:prstGeom>
          <a:solidFill>
            <a:srgbClr val="FFF7E6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4389120" y="4069080"/>
            <a:ext cx="6949080" cy="4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3"/>
          <p:cNvSpPr/>
          <p:nvPr/>
        </p:nvSpPr>
        <p:spPr>
          <a:xfrm>
            <a:off x="4553640" y="423360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intensa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5321880" y="4206240"/>
            <a:ext cx="5851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18 workers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5"/>
          <p:cNvSpPr/>
          <p:nvPr/>
        </p:nvSpPr>
        <p:spPr>
          <a:xfrm>
            <a:off x="5321880" y="4507920"/>
            <a:ext cx="58518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maior chance de waits/locks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6"/>
          <p:cNvSpPr/>
          <p:nvPr/>
        </p:nvSpPr>
        <p:spPr>
          <a:xfrm>
            <a:off x="4389120" y="5257800"/>
            <a:ext cx="6949080" cy="639720"/>
          </a:xfrm>
          <a:prstGeom prst="rect">
            <a:avLst/>
          </a:prstGeom>
          <a:solidFill>
            <a:srgbClr val="F8FAFC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8" name="Text 27"/>
          <p:cNvSpPr/>
          <p:nvPr/>
        </p:nvSpPr>
        <p:spPr>
          <a:xfrm>
            <a:off x="4553640" y="5413320"/>
            <a:ext cx="662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Relação com o monitoramento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8"/>
          <p:cNvSpPr/>
          <p:nvPr/>
        </p:nvSpPr>
        <p:spPr>
          <a:xfrm>
            <a:off x="4553640" y="5751720"/>
            <a:ext cx="6620040" cy="2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Ao iniciar o simulador, as sessões e os SQLs começam a aparecer no dashboard, permitindo acompanhar a mudança dos indicadores em tempo real.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Interface Web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Interface Web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Dashboard HTML/CSS/JavaScript consumindo o ORDS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594360" y="1417320"/>
            <a:ext cx="5440320" cy="4525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758880" y="1572840"/>
            <a:ext cx="511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O que a tela mostra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758880" y="1911240"/>
            <a:ext cx="5111280" cy="391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Healthcheck da API.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Instância, status, banco e container.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Sessões agrupadas por usuário/status.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Waits principais e SQLs mais custosos.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Uso de tablespaces.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6446520" y="1417320"/>
            <a:ext cx="5120280" cy="4525920"/>
          </a:xfrm>
          <a:prstGeom prst="rect">
            <a:avLst/>
          </a:prstGeom>
          <a:solidFill>
            <a:srgbClr val="EAF3FB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6611040" y="1572840"/>
            <a:ext cx="479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Recursos da interface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6611040" y="1911240"/>
            <a:ext cx="4791240" cy="391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Atualização automática a cada 10 segundos.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Botão “Atualizar agora”.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Consumo via Fetch API.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Tooltip com SQL_FULLTEXT ao passar o mouse no SQL ID.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Servidor local via abrir_navegador.bat na porta 5500.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3154680" y="5989320"/>
            <a:ext cx="5897520" cy="255600"/>
          </a:xfrm>
          <a:prstGeom prst="rect">
            <a:avLst/>
          </a:prstGeom>
          <a:solidFill>
            <a:srgbClr val="E9F7EF"/>
          </a:solidFill>
          <a:ln w="6350">
            <a:solidFill>
              <a:srgbClr val="E9F7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Frontend sem dependências: HTML + CSS + JavaScript puro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Fluxo de Execução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Fluxo de Execução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7"/>
          <p:cNvSpPr/>
          <p:nvPr/>
        </p:nvSpPr>
        <p:spPr>
          <a:xfrm>
            <a:off x="2057400" y="2971800"/>
            <a:ext cx="411480" cy="360"/>
          </a:xfrm>
          <a:prstGeom prst="line">
            <a:avLst/>
          </a:prstGeom>
          <a:ln w="15240">
            <a:solidFill>
              <a:srgbClr val="9AA9B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8"/>
          <p:cNvSpPr/>
          <p:nvPr/>
        </p:nvSpPr>
        <p:spPr>
          <a:xfrm>
            <a:off x="3931920" y="2971800"/>
            <a:ext cx="411480" cy="360"/>
          </a:xfrm>
          <a:prstGeom prst="line">
            <a:avLst/>
          </a:prstGeom>
          <a:ln w="15240">
            <a:solidFill>
              <a:srgbClr val="9AA9B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9"/>
          <p:cNvSpPr/>
          <p:nvPr/>
        </p:nvSpPr>
        <p:spPr>
          <a:xfrm>
            <a:off x="5806440" y="2971800"/>
            <a:ext cx="411480" cy="360"/>
          </a:xfrm>
          <a:prstGeom prst="line">
            <a:avLst/>
          </a:prstGeom>
          <a:ln w="15240">
            <a:solidFill>
              <a:srgbClr val="9AA9B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0"/>
          <p:cNvSpPr/>
          <p:nvPr/>
        </p:nvSpPr>
        <p:spPr>
          <a:xfrm>
            <a:off x="7680960" y="2971800"/>
            <a:ext cx="411480" cy="360"/>
          </a:xfrm>
          <a:prstGeom prst="line">
            <a:avLst/>
          </a:prstGeom>
          <a:ln w="15240">
            <a:solidFill>
              <a:srgbClr val="9AA9B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1"/>
          <p:cNvSpPr/>
          <p:nvPr/>
        </p:nvSpPr>
        <p:spPr>
          <a:xfrm>
            <a:off x="9555480" y="2971800"/>
            <a:ext cx="411480" cy="360"/>
          </a:xfrm>
          <a:prstGeom prst="line">
            <a:avLst/>
          </a:prstGeom>
          <a:ln w="15240">
            <a:solidFill>
              <a:srgbClr val="9AA9B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594360" y="2103120"/>
            <a:ext cx="1462680" cy="1737000"/>
          </a:xfrm>
          <a:prstGeom prst="rect">
            <a:avLst/>
          </a:prstGeom>
          <a:solidFill>
            <a:srgbClr val="EAF3FB"/>
          </a:solidFill>
          <a:ln w="1397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7" name="Text 13"/>
          <p:cNvSpPr/>
          <p:nvPr/>
        </p:nvSpPr>
        <p:spPr>
          <a:xfrm>
            <a:off x="685800" y="223128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Subir Oracle + ORDS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4"/>
          <p:cNvSpPr/>
          <p:nvPr/>
        </p:nvSpPr>
        <p:spPr>
          <a:xfrm>
            <a:off x="740520" y="2560320"/>
            <a:ext cx="1170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docker compose up -d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5"/>
          <p:cNvSpPr/>
          <p:nvPr/>
        </p:nvSpPr>
        <p:spPr>
          <a:xfrm>
            <a:off x="1069920" y="1691640"/>
            <a:ext cx="511560" cy="347040"/>
          </a:xfrm>
          <a:prstGeom prst="rect">
            <a:avLst/>
          </a:prstGeom>
          <a:solidFill>
            <a:srgbClr val="004B82"/>
          </a:solidFill>
          <a:ln w="0">
            <a:solidFill>
              <a:srgbClr val="004B8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6"/>
          <p:cNvSpPr/>
          <p:nvPr/>
        </p:nvSpPr>
        <p:spPr>
          <a:xfrm>
            <a:off x="2468880" y="2103120"/>
            <a:ext cx="1462680" cy="1737000"/>
          </a:xfrm>
          <a:prstGeom prst="rect">
            <a:avLst/>
          </a:prstGeom>
          <a:solidFill>
            <a:srgbClr val="E9F7EF"/>
          </a:solidFill>
          <a:ln w="1397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1" name="Text 17"/>
          <p:cNvSpPr/>
          <p:nvPr/>
        </p:nvSpPr>
        <p:spPr>
          <a:xfrm>
            <a:off x="2560320" y="223128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Executar grants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8"/>
          <p:cNvSpPr/>
          <p:nvPr/>
        </p:nvSpPr>
        <p:spPr>
          <a:xfrm>
            <a:off x="2615040" y="2560320"/>
            <a:ext cx="1170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grants_monitoramento.sql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9"/>
          <p:cNvSpPr/>
          <p:nvPr/>
        </p:nvSpPr>
        <p:spPr>
          <a:xfrm>
            <a:off x="2944440" y="1691640"/>
            <a:ext cx="511560" cy="347040"/>
          </a:xfrm>
          <a:prstGeom prst="rect">
            <a:avLst/>
          </a:prstGeom>
          <a:solidFill>
            <a:srgbClr val="188038"/>
          </a:solidFill>
          <a:ln w="0">
            <a:solidFill>
              <a:srgbClr val="18803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0"/>
          <p:cNvSpPr/>
          <p:nvPr/>
        </p:nvSpPr>
        <p:spPr>
          <a:xfrm>
            <a:off x="4343400" y="2103120"/>
            <a:ext cx="1462680" cy="1737000"/>
          </a:xfrm>
          <a:prstGeom prst="rect">
            <a:avLst/>
          </a:prstGeom>
          <a:solidFill>
            <a:srgbClr val="EAF3FB"/>
          </a:solidFill>
          <a:ln w="1397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5" name="Text 21"/>
          <p:cNvSpPr/>
          <p:nvPr/>
        </p:nvSpPr>
        <p:spPr>
          <a:xfrm>
            <a:off x="4434840" y="223128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Publicar endpoints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2"/>
          <p:cNvSpPr/>
          <p:nvPr/>
        </p:nvSpPr>
        <p:spPr>
          <a:xfrm>
            <a:off x="4489560" y="2560320"/>
            <a:ext cx="1170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configuracao_ords.sql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3"/>
          <p:cNvSpPr/>
          <p:nvPr/>
        </p:nvSpPr>
        <p:spPr>
          <a:xfrm>
            <a:off x="4818960" y="1691640"/>
            <a:ext cx="511560" cy="347040"/>
          </a:xfrm>
          <a:prstGeom prst="rect">
            <a:avLst/>
          </a:prstGeom>
          <a:solidFill>
            <a:srgbClr val="004B82"/>
          </a:solidFill>
          <a:ln w="0">
            <a:solidFill>
              <a:srgbClr val="004B8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4"/>
          <p:cNvSpPr/>
          <p:nvPr/>
        </p:nvSpPr>
        <p:spPr>
          <a:xfrm>
            <a:off x="6217920" y="2103120"/>
            <a:ext cx="1462680" cy="1737000"/>
          </a:xfrm>
          <a:prstGeom prst="rect">
            <a:avLst/>
          </a:prstGeom>
          <a:solidFill>
            <a:srgbClr val="E9F7EF"/>
          </a:solidFill>
          <a:ln w="1397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9" name="Text 25"/>
          <p:cNvSpPr/>
          <p:nvPr/>
        </p:nvSpPr>
        <p:spPr>
          <a:xfrm>
            <a:off x="6309360" y="223128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Preparar simulação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6"/>
          <p:cNvSpPr/>
          <p:nvPr/>
        </p:nvSpPr>
        <p:spPr>
          <a:xfrm>
            <a:off x="6364080" y="2560320"/>
            <a:ext cx="1170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usuarios_simulacao.sql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7"/>
          <p:cNvSpPr/>
          <p:nvPr/>
        </p:nvSpPr>
        <p:spPr>
          <a:xfrm>
            <a:off x="6693480" y="1691640"/>
            <a:ext cx="511560" cy="347040"/>
          </a:xfrm>
          <a:prstGeom prst="rect">
            <a:avLst/>
          </a:prstGeom>
          <a:solidFill>
            <a:srgbClr val="188038"/>
          </a:solidFill>
          <a:ln w="0">
            <a:solidFill>
              <a:srgbClr val="18803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8"/>
          <p:cNvSpPr/>
          <p:nvPr/>
        </p:nvSpPr>
        <p:spPr>
          <a:xfrm>
            <a:off x="8092440" y="2103120"/>
            <a:ext cx="1462680" cy="1737000"/>
          </a:xfrm>
          <a:prstGeom prst="rect">
            <a:avLst/>
          </a:prstGeom>
          <a:solidFill>
            <a:srgbClr val="EAF3FB"/>
          </a:solidFill>
          <a:ln w="1397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3" name="Text 29"/>
          <p:cNvSpPr/>
          <p:nvPr/>
        </p:nvSpPr>
        <p:spPr>
          <a:xfrm>
            <a:off x="8183880" y="223128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Abrir dashboard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0"/>
          <p:cNvSpPr/>
          <p:nvPr/>
        </p:nvSpPr>
        <p:spPr>
          <a:xfrm>
            <a:off x="8238600" y="2560320"/>
            <a:ext cx="1170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abrir_navegador.bat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1"/>
          <p:cNvSpPr/>
          <p:nvPr/>
        </p:nvSpPr>
        <p:spPr>
          <a:xfrm>
            <a:off x="8568000" y="1691640"/>
            <a:ext cx="511560" cy="347040"/>
          </a:xfrm>
          <a:prstGeom prst="rect">
            <a:avLst/>
          </a:prstGeom>
          <a:solidFill>
            <a:srgbClr val="004B82"/>
          </a:solidFill>
          <a:ln w="0">
            <a:solidFill>
              <a:srgbClr val="004B8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2"/>
          <p:cNvSpPr/>
          <p:nvPr/>
        </p:nvSpPr>
        <p:spPr>
          <a:xfrm>
            <a:off x="9966960" y="2103120"/>
            <a:ext cx="1462680" cy="1737000"/>
          </a:xfrm>
          <a:prstGeom prst="rect">
            <a:avLst/>
          </a:prstGeom>
          <a:solidFill>
            <a:srgbClr val="E9F7EF"/>
          </a:solidFill>
          <a:ln w="1397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7" name="Text 33"/>
          <p:cNvSpPr/>
          <p:nvPr/>
        </p:nvSpPr>
        <p:spPr>
          <a:xfrm>
            <a:off x="10058400" y="223128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Rodar simulador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4"/>
          <p:cNvSpPr/>
          <p:nvPr/>
        </p:nvSpPr>
        <p:spPr>
          <a:xfrm>
            <a:off x="10113120" y="2560320"/>
            <a:ext cx="1170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simular_usuarios_oracle.py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5"/>
          <p:cNvSpPr/>
          <p:nvPr/>
        </p:nvSpPr>
        <p:spPr>
          <a:xfrm>
            <a:off x="10442520" y="1691640"/>
            <a:ext cx="511560" cy="347040"/>
          </a:xfrm>
          <a:prstGeom prst="rect">
            <a:avLst/>
          </a:prstGeom>
          <a:solidFill>
            <a:srgbClr val="188038"/>
          </a:solidFill>
          <a:ln w="0">
            <a:solidFill>
              <a:srgbClr val="18803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6"/>
          <p:cNvSpPr/>
          <p:nvPr/>
        </p:nvSpPr>
        <p:spPr>
          <a:xfrm>
            <a:off x="914400" y="4846320"/>
            <a:ext cx="10332360" cy="776880"/>
          </a:xfrm>
          <a:prstGeom prst="rect">
            <a:avLst/>
          </a:prstGeom>
          <a:solidFill>
            <a:srgbClr val="FFF7E6"/>
          </a:solidFill>
          <a:ln w="11430">
            <a:solidFill>
              <a:srgbClr val="FED7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1" name="Text 37"/>
          <p:cNvSpPr/>
          <p:nvPr/>
        </p:nvSpPr>
        <p:spPr>
          <a:xfrm>
            <a:off x="1078920" y="5001840"/>
            <a:ext cx="10003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Ponto-</a:t>
            </a:r>
            <a:r>
              <a:rPr lang="en-US" sz="1250" b="1" u="none" strike="noStrike" dirty="0" err="1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chave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8"/>
          <p:cNvSpPr/>
          <p:nvPr/>
        </p:nvSpPr>
        <p:spPr>
          <a:xfrm>
            <a:off x="1078920" y="5340240"/>
            <a:ext cx="10003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ordem de execução evita erros: primeiro o ambiente, depois grants e endpoints, depois simulação e por fim acompanhamento na interface.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Demonstração Esperada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Demonstração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7">
            <a:hlinkClick r:id="rId3"/>
          </p:cNvPr>
          <p:cNvSpPr/>
          <p:nvPr/>
        </p:nvSpPr>
        <p:spPr>
          <a:xfrm>
            <a:off x="685800" y="1508760"/>
            <a:ext cx="5166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1" name="Shape 8"/>
          <p:cNvSpPr/>
          <p:nvPr/>
        </p:nvSpPr>
        <p:spPr>
          <a:xfrm>
            <a:off x="685800" y="1508760"/>
            <a:ext cx="5166000" cy="4536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850320" y="167328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0"/>
          <p:cNvSpPr/>
          <p:nvPr/>
        </p:nvSpPr>
        <p:spPr>
          <a:xfrm>
            <a:off x="1618560" y="1645920"/>
            <a:ext cx="4068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Validar API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1618560" y="1947600"/>
            <a:ext cx="4068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Abrir /health e um endpoint de métrica no navegador.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2">
            <a:hlinkClick r:id="rId4" action="ppaction://hlinkfile"/>
          </p:cNvPr>
          <p:cNvSpPr/>
          <p:nvPr/>
        </p:nvSpPr>
        <p:spPr>
          <a:xfrm>
            <a:off x="685800" y="2377440"/>
            <a:ext cx="5166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6" name="Shape 13"/>
          <p:cNvSpPr/>
          <p:nvPr/>
        </p:nvSpPr>
        <p:spPr>
          <a:xfrm>
            <a:off x="685800" y="2377440"/>
            <a:ext cx="5166000" cy="45360"/>
          </a:xfrm>
          <a:prstGeom prst="rect">
            <a:avLst/>
          </a:prstGeom>
          <a:solidFill>
            <a:srgbClr val="188038"/>
          </a:solidFill>
          <a:ln w="12700">
            <a:solidFill>
              <a:srgbClr val="1880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4"/>
          <p:cNvSpPr/>
          <p:nvPr/>
        </p:nvSpPr>
        <p:spPr>
          <a:xfrm>
            <a:off x="850320" y="254196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1618560" y="2514600"/>
            <a:ext cx="4068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Abrir dashboard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6"/>
          <p:cNvSpPr/>
          <p:nvPr/>
        </p:nvSpPr>
        <p:spPr>
          <a:xfrm>
            <a:off x="1618560" y="2816280"/>
            <a:ext cx="4068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Mostrar cards de instância, banco e container.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7">
            <a:hlinkClick r:id="rId5" action="ppaction://hlinkfile"/>
          </p:cNvPr>
          <p:cNvSpPr/>
          <p:nvPr/>
        </p:nvSpPr>
        <p:spPr>
          <a:xfrm>
            <a:off x="685800" y="3246120"/>
            <a:ext cx="5166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1" name="Shape 18"/>
          <p:cNvSpPr/>
          <p:nvPr/>
        </p:nvSpPr>
        <p:spPr>
          <a:xfrm>
            <a:off x="685800" y="3246120"/>
            <a:ext cx="5166000" cy="4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850320" y="341064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C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1618560" y="3383280"/>
            <a:ext cx="4068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 err="1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Iniciar</a:t>
            </a:r>
            <a:r>
              <a:rPr lang="en-US" sz="1150" b="1" u="none" strike="noStrike" dirty="0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150" b="1" u="none" strike="noStrike" dirty="0" err="1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simulação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1618560" y="3684960"/>
            <a:ext cx="4068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Rodar o Python em perfil media ou intensa.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2"/>
          <p:cNvSpPr/>
          <p:nvPr/>
        </p:nvSpPr>
        <p:spPr>
          <a:xfrm>
            <a:off x="685800" y="4114800"/>
            <a:ext cx="5166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6" name="Shape 23"/>
          <p:cNvSpPr/>
          <p:nvPr/>
        </p:nvSpPr>
        <p:spPr>
          <a:xfrm>
            <a:off x="685800" y="4114800"/>
            <a:ext cx="5166000" cy="45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4"/>
          <p:cNvSpPr/>
          <p:nvPr/>
        </p:nvSpPr>
        <p:spPr>
          <a:xfrm>
            <a:off x="850320" y="427932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D28D9"/>
                </a:solidFill>
                <a:effectLst/>
                <a:uFillTx/>
                <a:latin typeface="Aptos"/>
                <a:ea typeface="Aptos"/>
              </a:rPr>
              <a:t>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1618560" y="4251960"/>
            <a:ext cx="4068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Observar mudanças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6"/>
          <p:cNvSpPr/>
          <p:nvPr/>
        </p:nvSpPr>
        <p:spPr>
          <a:xfrm>
            <a:off x="1618560" y="4553640"/>
            <a:ext cx="4068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Sessões, waits e SQLs custosos atualizando na tela.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7"/>
          <p:cNvSpPr/>
          <p:nvPr/>
        </p:nvSpPr>
        <p:spPr>
          <a:xfrm>
            <a:off x="685800" y="4983480"/>
            <a:ext cx="51660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1" name="Shape 28"/>
          <p:cNvSpPr/>
          <p:nvPr/>
        </p:nvSpPr>
        <p:spPr>
          <a:xfrm>
            <a:off x="685800" y="4983480"/>
            <a:ext cx="5166000" cy="4536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9"/>
          <p:cNvSpPr/>
          <p:nvPr/>
        </p:nvSpPr>
        <p:spPr>
          <a:xfrm>
            <a:off x="850320" y="5148000"/>
            <a:ext cx="475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0"/>
          <p:cNvSpPr/>
          <p:nvPr/>
        </p:nvSpPr>
        <p:spPr>
          <a:xfrm>
            <a:off x="1618560" y="5120640"/>
            <a:ext cx="4068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Mostrar SQL completo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1618560" y="5422320"/>
            <a:ext cx="4068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Passar o mouse sobre SQL ID para exibir SQL_FULLTEXT.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2"/>
          <p:cNvSpPr/>
          <p:nvPr/>
        </p:nvSpPr>
        <p:spPr>
          <a:xfrm>
            <a:off x="6537960" y="1508760"/>
            <a:ext cx="4754520" cy="4205880"/>
          </a:xfrm>
          <a:prstGeom prst="rect">
            <a:avLst/>
          </a:prstGeom>
          <a:solidFill>
            <a:srgbClr val="EFF6FF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6" name="Text 33"/>
          <p:cNvSpPr/>
          <p:nvPr/>
        </p:nvSpPr>
        <p:spPr>
          <a:xfrm>
            <a:off x="6702480" y="1664280"/>
            <a:ext cx="4425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Mensagem da demonstração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4"/>
          <p:cNvSpPr/>
          <p:nvPr/>
        </p:nvSpPr>
        <p:spPr>
          <a:xfrm>
            <a:off x="6702480" y="2002680"/>
            <a:ext cx="4425480" cy="359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 projeto mostra um ciclo completo de observabilidade: a atividade ocorre no banco, o ORDS publica as métricas e o dashboard transforma o JSON em uma leitura visual para acompanhamento em tempo real.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Principais Aprendizados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Principais Aprendizados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 que o projeto consolidou na prática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594360" y="1554480"/>
            <a:ext cx="3428640" cy="1416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758880" y="171000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V$ Views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758880" y="2048400"/>
            <a:ext cx="309960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Leitura de instância, sessões, waits, SQLs e uso de tablespaces.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4434840" y="1554480"/>
            <a:ext cx="3428640" cy="1416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4599360" y="171000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ORDS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2"/>
          <p:cNvSpPr/>
          <p:nvPr/>
        </p:nvSpPr>
        <p:spPr>
          <a:xfrm>
            <a:off x="4599360" y="2048400"/>
            <a:ext cx="309960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Publicação de consultas SQL como serviços REST.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8275320" y="1554480"/>
            <a:ext cx="3428640" cy="1416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8439840" y="171000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Segurança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8439840" y="2048400"/>
            <a:ext cx="309960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Criação de usuário específico e grants para monitoramento.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594360" y="3474720"/>
            <a:ext cx="3428640" cy="1416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758880" y="363024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Web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8"/>
          <p:cNvSpPr/>
          <p:nvPr/>
        </p:nvSpPr>
        <p:spPr>
          <a:xfrm>
            <a:off x="758880" y="3968640"/>
            <a:ext cx="309960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Construção de dashboard estático consumindo JSON.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9"/>
          <p:cNvSpPr/>
          <p:nvPr/>
        </p:nvSpPr>
        <p:spPr>
          <a:xfrm>
            <a:off x="4434840" y="3474720"/>
            <a:ext cx="3428640" cy="1416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4599360" y="363024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Python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1"/>
          <p:cNvSpPr/>
          <p:nvPr/>
        </p:nvSpPr>
        <p:spPr>
          <a:xfrm>
            <a:off x="4599360" y="3968640"/>
            <a:ext cx="309960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Simulação de carga para validar observabilidade.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2"/>
          <p:cNvSpPr/>
          <p:nvPr/>
        </p:nvSpPr>
        <p:spPr>
          <a:xfrm>
            <a:off x="8275320" y="3474720"/>
            <a:ext cx="3428640" cy="1416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1" name="Text 23"/>
          <p:cNvSpPr/>
          <p:nvPr/>
        </p:nvSpPr>
        <p:spPr>
          <a:xfrm>
            <a:off x="8439840" y="3630240"/>
            <a:ext cx="30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Operação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4"/>
          <p:cNvSpPr/>
          <p:nvPr/>
        </p:nvSpPr>
        <p:spPr>
          <a:xfrm>
            <a:off x="8439840" y="3968640"/>
            <a:ext cx="309960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Execução local com Docker Compose, portas, logs e validações.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5"/>
          <p:cNvSpPr/>
          <p:nvPr/>
        </p:nvSpPr>
        <p:spPr>
          <a:xfrm>
            <a:off x="960120" y="5532120"/>
            <a:ext cx="10286640" cy="502560"/>
          </a:xfrm>
          <a:prstGeom prst="rect">
            <a:avLst/>
          </a:prstGeom>
          <a:solidFill>
            <a:srgbClr val="E9F7EF"/>
          </a:solidFill>
          <a:ln w="11430">
            <a:solidFill>
              <a:srgbClr val="BEE7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4" name="Text 26"/>
          <p:cNvSpPr/>
          <p:nvPr/>
        </p:nvSpPr>
        <p:spPr>
          <a:xfrm>
            <a:off x="1124640" y="5589666"/>
            <a:ext cx="9957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Aprendizado</a:t>
            </a:r>
            <a:r>
              <a:rPr lang="en-US" sz="1200" b="1" u="none" strike="noStrike" dirty="0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 central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7"/>
          <p:cNvSpPr/>
          <p:nvPr/>
        </p:nvSpPr>
        <p:spPr>
          <a:xfrm>
            <a:off x="1124640" y="5818626"/>
            <a:ext cx="99576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Monitoramento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não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é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apenas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verificar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se o banco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está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no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ar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; é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produzir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evidências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para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interpretar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comportamento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,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gargalos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 e </a:t>
            </a:r>
            <a:r>
              <a:rPr lang="en-US" sz="950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consumo</a:t>
            </a: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Pontos de Atenção e Limitações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Pontos de Atenção e Limitações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Escopo acadêmico e cuidados técnicos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7"/>
          <p:cNvSpPr/>
          <p:nvPr/>
        </p:nvSpPr>
        <p:spPr>
          <a:xfrm>
            <a:off x="594360" y="1463040"/>
            <a:ext cx="3520080" cy="420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758880" y="1618560"/>
            <a:ext cx="3191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E11D48"/>
                </a:solidFill>
                <a:effectLst/>
                <a:uFillTx/>
                <a:latin typeface="Aptos"/>
                <a:ea typeface="Aptos"/>
              </a:rPr>
              <a:t>Limitações do projeto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9"/>
          <p:cNvSpPr/>
          <p:nvPr/>
        </p:nvSpPr>
        <p:spPr>
          <a:xfrm>
            <a:off x="758880" y="1956960"/>
            <a:ext cx="3191040" cy="359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Ambiente local de laboratório.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Massa de dados artificial.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Sem pipeline de CI/CD identificado.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Sem testes automatizados identificados.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Dashboard não substitui ferramentas completas de observabilidade.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0"/>
          <p:cNvSpPr/>
          <p:nvPr/>
        </p:nvSpPr>
        <p:spPr>
          <a:xfrm>
            <a:off x="4434840" y="1463040"/>
            <a:ext cx="3520080" cy="4205880"/>
          </a:xfrm>
          <a:prstGeom prst="rect">
            <a:avLst/>
          </a:prstGeom>
          <a:solidFill>
            <a:srgbClr val="FFF7E6"/>
          </a:solidFill>
          <a:ln w="11430">
            <a:solidFill>
              <a:srgbClr val="FED7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4599360" y="1618560"/>
            <a:ext cx="3191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Cuidados operacionais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2"/>
          <p:cNvSpPr/>
          <p:nvPr/>
        </p:nvSpPr>
        <p:spPr>
          <a:xfrm>
            <a:off x="4599360" y="1956960"/>
            <a:ext cx="3191040" cy="359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Oracle e ORDS precisam estar ativos.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Portas 1522, 8181 e 5500 precisam estar livres.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MONITOR_APP depende dos grants corretos.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Endpoints de SQL e tablespaces exigem privilégios específicos.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3"/>
          <p:cNvSpPr/>
          <p:nvPr/>
        </p:nvSpPr>
        <p:spPr>
          <a:xfrm>
            <a:off x="8275320" y="1463040"/>
            <a:ext cx="3337200" cy="4205880"/>
          </a:xfrm>
          <a:prstGeom prst="rect">
            <a:avLst/>
          </a:prstGeom>
          <a:solidFill>
            <a:srgbClr val="EAF3FB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0" name="Text 14"/>
          <p:cNvSpPr/>
          <p:nvPr/>
        </p:nvSpPr>
        <p:spPr>
          <a:xfrm>
            <a:off x="8439840" y="1618560"/>
            <a:ext cx="3008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Segurança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5"/>
          <p:cNvSpPr/>
          <p:nvPr/>
        </p:nvSpPr>
        <p:spPr>
          <a:xfrm>
            <a:off x="8439840" y="1956960"/>
            <a:ext cx="3008160" cy="359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Credenciais estão em arquivos de laboratório.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Não usar senhas fixas em produção.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Recomenda-se variáveis de ambiente, secrets ou .env ignorado pelo Git.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Conclusão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Conclusão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Síntese final da entrega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7"/>
          <p:cNvSpPr/>
          <p:nvPr/>
        </p:nvSpPr>
        <p:spPr>
          <a:xfrm>
            <a:off x="777240" y="1463040"/>
            <a:ext cx="5211720" cy="402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0" name="Text 8"/>
          <p:cNvSpPr/>
          <p:nvPr/>
        </p:nvSpPr>
        <p:spPr>
          <a:xfrm>
            <a:off x="941760" y="1618560"/>
            <a:ext cx="488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O que foi entregue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9"/>
          <p:cNvSpPr/>
          <p:nvPr/>
        </p:nvSpPr>
        <p:spPr>
          <a:xfrm>
            <a:off x="941760" y="1956960"/>
            <a:ext cx="4882680" cy="34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Ambiente local Oracle Free 23ai + ORDS.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Scripts SQL de grants, endpoints e simulação.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Dashboard web com atualização automática.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Simulador Python para gerar atividade no banco.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Roteiro de execução e demonstração.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0"/>
          <p:cNvSpPr/>
          <p:nvPr/>
        </p:nvSpPr>
        <p:spPr>
          <a:xfrm>
            <a:off x="6355080" y="1463040"/>
            <a:ext cx="5074560" cy="4023000"/>
          </a:xfrm>
          <a:prstGeom prst="rect">
            <a:avLst/>
          </a:prstGeom>
          <a:solidFill>
            <a:srgbClr val="E9F7EF"/>
          </a:solidFill>
          <a:ln w="11430">
            <a:solidFill>
              <a:srgbClr val="BEE7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3" name="Text 11"/>
          <p:cNvSpPr/>
          <p:nvPr/>
        </p:nvSpPr>
        <p:spPr>
          <a:xfrm>
            <a:off x="6519600" y="1618560"/>
            <a:ext cx="4745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8038"/>
                </a:solidFill>
                <a:effectLst/>
                <a:uFillTx/>
                <a:latin typeface="Aptos"/>
                <a:ea typeface="Aptos"/>
              </a:rPr>
              <a:t>Valor do projeto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2"/>
          <p:cNvSpPr/>
          <p:nvPr/>
        </p:nvSpPr>
        <p:spPr>
          <a:xfrm>
            <a:off x="6519600" y="1956960"/>
            <a:ext cx="4745520" cy="34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Mostra o Oracle como fonte de métricas em tempo real.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Demonstra uso prático do ORDS como API REST.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Conecta conceitos de monitoramento, waits, sessões e SQL custoso.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Transforma conteúdo técnico em visualização compreensível.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3"/>
          <p:cNvSpPr/>
          <p:nvPr/>
        </p:nvSpPr>
        <p:spPr>
          <a:xfrm>
            <a:off x="914400" y="5779080"/>
            <a:ext cx="10332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Mensagem final: a solução entrega uma observabilidade simples, didática e funcional para apoiar o entendimento prático de administração Oracle.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04B82"/>
          </a:solidFill>
          <a:ln w="1270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"/>
          <p:cNvSpPr/>
          <p:nvPr/>
        </p:nvSpPr>
        <p:spPr>
          <a:xfrm>
            <a:off x="347400" y="8244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Referências e Fontes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"/>
          <p:cNvSpPr/>
          <p:nvPr/>
        </p:nvSpPr>
        <p:spPr>
          <a:xfrm>
            <a:off x="8229600" y="109800"/>
            <a:ext cx="361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D7E7F6"/>
                </a:solidFill>
                <a:effectLst/>
                <a:uFillTx/>
                <a:latin typeface="Aptos"/>
                <a:ea typeface="Aptos"/>
              </a:rPr>
              <a:t>Oracle · ORDS · Dashboard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411480" y="71316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Referências e Fontes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"/>
          <p:cNvSpPr/>
          <p:nvPr/>
        </p:nvSpPr>
        <p:spPr>
          <a:xfrm>
            <a:off x="429840" y="10789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Materiais usados na construção da apresentação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347400" y="6602040"/>
            <a:ext cx="512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Projeto Final · Monitoramento Oracle com ORDS · Junho/2026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11475720" y="6583680"/>
            <a:ext cx="365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7E8BA3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7"/>
          <p:cNvSpPr/>
          <p:nvPr/>
        </p:nvSpPr>
        <p:spPr>
          <a:xfrm>
            <a:off x="594360" y="1417320"/>
            <a:ext cx="5348880" cy="4525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758880" y="1572840"/>
            <a:ext cx="5019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Arquivos do projeto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9"/>
          <p:cNvSpPr/>
          <p:nvPr/>
        </p:nvSpPr>
        <p:spPr>
          <a:xfrm>
            <a:off x="758880" y="1911240"/>
            <a:ext cx="5019840" cy="391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README.md — fonte principal de conteúdo.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Premissa.md — objetivo acadêmico do dashboard.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free-full-23ai/compose/compose.yaml.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monitor-oracle/sql/configuracao_ords.sql.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monitor-oracle/sql/usuarios_simulacao.sql.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monitor-oracle/web/index.html, app.js e style.css.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monitor-oracle/scripts/simular_usuarios_oracle.py.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0"/>
          <p:cNvSpPr/>
          <p:nvPr/>
        </p:nvSpPr>
        <p:spPr>
          <a:xfrm>
            <a:off x="6355080" y="1417320"/>
            <a:ext cx="5348880" cy="4525920"/>
          </a:xfrm>
          <a:prstGeom prst="rect">
            <a:avLst/>
          </a:prstGeom>
          <a:solidFill>
            <a:srgbClr val="EAF3FB"/>
          </a:solidFill>
          <a:ln w="11430">
            <a:solidFill>
              <a:srgbClr val="B9D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7" name="Text 11"/>
          <p:cNvSpPr/>
          <p:nvPr/>
        </p:nvSpPr>
        <p:spPr>
          <a:xfrm>
            <a:off x="6519600" y="1572840"/>
            <a:ext cx="5019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B82"/>
                </a:solidFill>
                <a:effectLst/>
                <a:uFillTx/>
                <a:latin typeface="Aptos"/>
                <a:ea typeface="Aptos"/>
              </a:rPr>
              <a:t>Materiais de apoio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2"/>
          <p:cNvSpPr/>
          <p:nvPr/>
        </p:nvSpPr>
        <p:spPr>
          <a:xfrm>
            <a:off x="6519600" y="1911240"/>
            <a:ext cx="5019840" cy="391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04-teoria-modulo4.md — monitoramento, tuning e desempenho.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04-pratica-modulo4.md — consultas de observação, waits e locks.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aula5-revisao-modulo4-README.md — revisão dos principais conceitos.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• PowerPoint de exemplo — referência visual e estrutura de apresentação.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3"/>
          <p:cNvSpPr/>
          <p:nvPr/>
        </p:nvSpPr>
        <p:spPr>
          <a:xfrm>
            <a:off x="5376600" y="6144840"/>
            <a:ext cx="1462680" cy="255600"/>
          </a:xfrm>
          <a:prstGeom prst="rect">
            <a:avLst/>
          </a:prstGeom>
          <a:solidFill>
            <a:srgbClr val="004B82"/>
          </a:solidFill>
          <a:ln w="6350">
            <a:solidFill>
              <a:srgbClr val="004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Fim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2642</Words>
  <Application>Microsoft Office PowerPoint</Application>
  <PresentationFormat>Widescreen</PresentationFormat>
  <Paragraphs>374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Aptos</vt:lpstr>
      <vt:lpstr>Arial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Marcus Pinheiro</cp:lastModifiedBy>
  <cp:revision>1</cp:revision>
  <dcterms:modified xsi:type="dcterms:W3CDTF">2026-06-01T23:11:51Z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2026-06-01T15:42:54Z</dcterms:created>
  <dc:creator>OpenAI</dc:creator>
  <dc:description/>
  <dc:language>en-US</dc:language>
  <cp:lastModifiedBy>OpenAI</cp:lastModifiedBy>
  <dcterms:modified xsi:type="dcterms:W3CDTF">2026-06-01T15:42:54Z</dcterms:modified>
  <cp:revision>1</cp:revision>
  <dc:subject>Projeto Oracle ADM - Oracle Free 23ai com ORDS e Dashboard de Monitoramento</dc:subject>
  <dc:title>Dashboard de Monitoramento Oracle com ORDS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On-screen Show (16:9)</vt:lpwstr>
  </property>
  <property fmtid="{D5CDD505-2E9C-101B-9397-08002B2CF9AE}" pid="4" name="Slides">
    <vt:r8>16</vt:r8>
  </property>
</Properties>
</file>