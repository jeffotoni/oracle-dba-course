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0" y="-731520"/>
            <a:ext cx="4389120" cy="4389120"/>
          </a:xfrm>
          <a:prstGeom prst="ellipse">
            <a:avLst/>
          </a:prstGeom>
          <a:solidFill>
            <a:srgbClr val="1B3A52">
              <a:alpha val="54901"/>
            </a:srgbClr>
          </a:solidFill>
          <a:ln cap="flat" cmpd="sng" w="12700">
            <a:solidFill>
              <a:srgbClr val="1B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1828800"/>
            <a:ext cx="2926080" cy="2926080"/>
          </a:xfrm>
          <a:prstGeom prst="ellipse">
            <a:avLst/>
          </a:prstGeom>
          <a:solidFill>
            <a:srgbClr val="00A896">
              <a:alpha val="21960"/>
            </a:srgbClr>
          </a:solidFill>
          <a:ln cap="flat" cmpd="sng" w="12700">
            <a:solidFill>
              <a:srgbClr val="00A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1280160"/>
            <a:ext cx="91440" cy="23774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7240" y="1261872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 AI Vector Search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210312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Busca Semântica com Oracle Database 23ai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2560320"/>
            <a:ext cx="5943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Camilla . Cléo . Nicole . Pablo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A141F"/>
          </a:solidFill>
          <a:ln cap="flat" cmpd="sng" w="12700">
            <a:solidFill>
              <a:srgbClr val="0A14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74320" y="47960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docs.oracle.com/en/database/oracle/oracle-database/23/vecse/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Problema — Por que busca semântica?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11480" y="914400"/>
            <a:ext cx="8321040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94360" y="107899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17320" y="10241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Volume de conteúdo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17320" y="137160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Alunos acumulam artigos, apostilas e anotações em diferentes fontes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2148840"/>
            <a:ext cx="8321040" cy="1051560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94360" y="231343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17320" y="225856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Busca por palavras-chave falha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17320" y="260604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Termos exatos precisam coincidir — sinônimos e paráfrases não são encontrados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" y="3383280"/>
            <a:ext cx="8321040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94360" y="354787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417320" y="34930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Significado ≠ Texto literal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17320" y="384048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mesma pergunta tem diversas formas; busca tradicional ignora contexto semântico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o Embedding é Gerado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20040" y="914400"/>
            <a:ext cx="2423160" cy="1325880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20040" y="914400"/>
            <a:ext cx="64008" cy="132588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84632" y="987552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Texto Original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84632" y="1335024"/>
            <a:ext cx="21762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"O que é MDM?"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063240" y="914400"/>
            <a:ext cx="2423160" cy="1325880"/>
          </a:xfrm>
          <a:prstGeom prst="rect">
            <a:avLst/>
          </a:prstGeom>
          <a:solidFill>
            <a:srgbClr val="FFF9E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063240" y="914400"/>
            <a:ext cx="64008" cy="13258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227832" y="987552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27832" y="1335024"/>
            <a:ext cx="21762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all-MiniLM-L6-v2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(Sentence Transformers)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806440" y="914400"/>
            <a:ext cx="2423160" cy="1325880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806440" y="914400"/>
            <a:ext cx="64008" cy="132588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971032" y="987552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Vetor Float32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71032" y="1335024"/>
            <a:ext cx="21762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[0.23, -0.71, 0.04 ...]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384 dimensões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743200" y="12801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0" y="12801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" y="2377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 — gerar_embeddings.py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0040" y="2651760"/>
            <a:ext cx="8503920" cy="2103120"/>
          </a:xfrm>
          <a:prstGeom prst="rect">
            <a:avLst/>
          </a:prstGeom>
          <a:solidFill>
            <a:srgbClr val="1E3A4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" y="2779776"/>
            <a:ext cx="822960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import oracledb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from sentence_transformers import SentenceTransformer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SentenceTransformer("all-MiniLM-L6-v2")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Para cada doc sem embedding: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 = model.encode(texto_str)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embedding_str = "[" + ",".join(map(str, embedding.tolist())) + "]"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UPDATE kb_docs SET embedding = TO_VECTOR(:embedding, 384, FLOAT32) WHERE id = 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Tabela no Oracle Database 23ai — VECTOR(384, FLOAT32)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20040" y="868680"/>
            <a:ext cx="4846320" cy="1874520"/>
          </a:xfrm>
          <a:prstGeom prst="rect">
            <a:avLst/>
          </a:prstGeom>
          <a:solidFill>
            <a:srgbClr val="1E3A4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7200" y="996696"/>
            <a:ext cx="4572000" cy="1618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CREATE TABLE kb_docs 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id        NUMBER GENERATED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ALWAYS AS IDENTITY,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titulo    VARCHAR2(200),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texto     CLOB,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embedding VECTOR(384, FLOAT32)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166360" y="1115568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0" name="Google Shape;80;p6"/>
          <p:cNvSpPr/>
          <p:nvPr/>
        </p:nvSpPr>
        <p:spPr>
          <a:xfrm>
            <a:off x="5532120" y="932688"/>
            <a:ext cx="3246120" cy="384048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650992" y="9601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Chave primária auto-gerada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5166360" y="1408176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3" name="Google Shape;83;p6"/>
          <p:cNvSpPr/>
          <p:nvPr/>
        </p:nvSpPr>
        <p:spPr>
          <a:xfrm>
            <a:off x="5532120" y="1225296"/>
            <a:ext cx="3246120" cy="384048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650992" y="125272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Título do documento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6"/>
          <p:cNvCxnSpPr/>
          <p:nvPr/>
        </p:nvCxnSpPr>
        <p:spPr>
          <a:xfrm>
            <a:off x="5166360" y="1700784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/>
          <p:nvPr/>
        </p:nvSpPr>
        <p:spPr>
          <a:xfrm>
            <a:off x="5532120" y="1517904"/>
            <a:ext cx="3246120" cy="384048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650992" y="154533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Conteúdo completo (texto longo)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5166360" y="1993392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5532120" y="1810512"/>
            <a:ext cx="3246120" cy="384048"/>
          </a:xfrm>
          <a:prstGeom prst="rect">
            <a:avLst/>
          </a:prstGeom>
          <a:solidFill>
            <a:srgbClr val="EFF8F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650992" y="183794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2"/>
                </a:solidFill>
                <a:latin typeface="Calibri"/>
                <a:ea typeface="Calibri"/>
                <a:cs typeface="Calibri"/>
                <a:sym typeface="Calibri"/>
              </a:rPr>
              <a:t>384 dimensões · precisão float32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20040" y="2852928"/>
            <a:ext cx="8503920" cy="1005840"/>
          </a:xfrm>
          <a:prstGeom prst="rect">
            <a:avLst/>
          </a:prstGeom>
          <a:solidFill>
            <a:srgbClr val="EAF9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2852928"/>
            <a:ext cx="64008" cy="10058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30352" y="29077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VECTOR(384, FLOAT32)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30352" y="320040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Tipo nativo Oracle 23ai — armazena o vetor diretamente na coluna, sem serialização. Suporta métricas COSINE, EUCLIDEAN e DOT_PRODUCT nativamente na query.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20040" y="39776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INSERT com TO_VECTOR: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20040" y="4233672"/>
            <a:ext cx="8503920" cy="640080"/>
          </a:xfrm>
          <a:prstGeom prst="rect">
            <a:avLst/>
          </a:prstGeom>
          <a:solidFill>
            <a:srgbClr val="1E3A4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4361688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INSERT INTO kb_docs (titulo, texto, embedding) VALUES (:t, :x, TO_VECTOR(:v, 384, FLOAT32))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Script: Gerar e Salvar Embeddings no Banco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20040" y="868680"/>
            <a:ext cx="8503920" cy="3913632"/>
          </a:xfrm>
          <a:prstGeom prst="rect">
            <a:avLst/>
          </a:prstGeom>
          <a:solidFill>
            <a:srgbClr val="1E3A4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57200" y="996696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import oracledb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from sentence_transformers import SentenceTransformer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SentenceTransformer("all-MiniLM-L6-v2")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conn  = oracledb.connect(user="camilla", password="...", dsn="localhost:1526/FREEPDB1")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cursor = conn.cursor()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cursor.execute("SELECT id, texto FROM kb_docs WHERE embedding IS NULL")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docs = cursor.fetchall()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doc_id, texto in docs: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texto_str    = texto.read() if hasattr(texto, "read") else str(texto)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embedding    = model.encode(texto_str)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emb_str      = "[" + ",".join(map(str, embedding.tolist())) + "]"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cursor.execute("UPDATE kb_docs SET embedding = TO_VECTOR(:e,384,FLOAT32)"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" WHERE id = :id", {"e": emb_str, "id": doc_id})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conn.commit()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print("Embeddings gerados e salvos com sucesso!")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Script: Busca por Similaridade (Assistente)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20040" y="868680"/>
            <a:ext cx="8503920" cy="3913632"/>
          </a:xfrm>
          <a:prstGeom prst="rect">
            <a:avLst/>
          </a:prstGeom>
          <a:solidFill>
            <a:srgbClr val="1E3A4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457200" y="996696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pergunta = input("Como posso ajudar? ('sair' para encerrar): 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pergunta.lower() == "sair": break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embedding = model.encode(pergunta)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emb_str   = "[" + ",".join(map(str, embedding.tolist())) + "]"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cursor.execute("""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SELECT titulo, texto,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VECTOR_DISTANCE(embedding,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TO_VECTOR(:embedding, 384, FLOAT32), COSINE) AS distancia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FROM kb_docs WHERE embedding IS NOT NULL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ORDER BY distancia FETCH FIRST 3 ROWS ONLY""",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{"embedding": emb_str})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titulo, texto, distancia = cursor.fetchall()[0]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distancia &gt; 0.55: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print("Não encontrei resposta para essa pergunta.")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print(f"Conteúdo: {titulo}  |  Similaridade: {round(1-distancia,2)}")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a Consulta por Similaridade Funciona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886968" y="868680"/>
            <a:ext cx="384048" cy="384048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886968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20040" y="1298448"/>
            <a:ext cx="1719072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411480" y="1371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Pergunta do aluno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11480" y="171907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Texto em linguagem natural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670048" y="868680"/>
            <a:ext cx="384048" cy="384048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2670048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103120" y="1298448"/>
            <a:ext cx="1719072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2194560" y="1371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model.encode()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194560" y="171907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Vetor de 384 floats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453128" y="868680"/>
            <a:ext cx="384048" cy="384048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4453128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3886200" y="1298448"/>
            <a:ext cx="1719072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3977640" y="1371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TO_VECTOR() no Oracle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977640" y="171907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Converte string → 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236208" y="868680"/>
            <a:ext cx="384048" cy="384048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236208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669280" y="1298448"/>
            <a:ext cx="1719072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760720" y="1371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VECTOR_DISTANCE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760720" y="171907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Métrica COSINE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019288" y="868680"/>
            <a:ext cx="384048" cy="384048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019288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7452360" y="1298448"/>
            <a:ext cx="1719072" cy="105156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7543800" y="1371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Top-3 resultados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543800" y="171907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ORDER BY distancia ASC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993392" y="16916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776472" y="16916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559552" y="16916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342632" y="16916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20040" y="2514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Métricas disponíveis: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20040" y="2834640"/>
            <a:ext cx="2423160" cy="1691640"/>
          </a:xfrm>
          <a:prstGeom prst="rect">
            <a:avLst/>
          </a:prstGeom>
          <a:solidFill>
            <a:srgbClr val="EAF9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57200" y="290779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onsolas"/>
                <a:ea typeface="Consolas"/>
                <a:cs typeface="Consolas"/>
                <a:sym typeface="Consolas"/>
              </a:rPr>
              <a:t>COSINE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324612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Ângulo entre vetores. Ideal para textos.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= idêntico · 1 = oposto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7200" y="3959352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usado neste projeto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063240" y="2834640"/>
            <a:ext cx="2423160" cy="16916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3200400" y="290779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EUCLIDEAN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200400" y="324612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Distância geométrica. Sensível 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magnitude dos vetores.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806440" y="2834640"/>
            <a:ext cx="2423160" cy="16916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943600" y="290779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DOT_PRODUCT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943600" y="324612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Produto escalar. Rápido, mas exige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vetores normalizados.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201168" y="0"/>
            <a:ext cx="8778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Demonstração da Busca — Exemplo Real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20040" y="868680"/>
            <a:ext cx="8503920" cy="749808"/>
          </a:xfrm>
          <a:prstGeom prst="rect">
            <a:avLst/>
          </a:prstGeom>
          <a:solidFill>
            <a:srgbClr val="EAF9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320040" y="868680"/>
            <a:ext cx="64008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21208" y="8961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💬  Pergunta: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21208" y="1170432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"O que é MDM?"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320040" y="17373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r>
              <a:rPr b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distancia &gt; 0.55 = sem resposta  ·  distancia ≤ 0.55 = encontrado: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20040" y="2057400"/>
            <a:ext cx="85039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48640" y="210312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188720" y="21031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Documento encontrado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486400" y="21031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Distância COSINE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7223760" y="21031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Similaridade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20040" y="2404872"/>
            <a:ext cx="8503920" cy="438912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57200" y="2496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1°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88720" y="249631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Master Data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440680" y="249631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0.0312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995160" y="2478024"/>
            <a:ext cx="1234440" cy="292608"/>
          </a:xfrm>
          <a:prstGeom prst="rect">
            <a:avLst/>
          </a:prstGeom>
          <a:solidFill>
            <a:srgbClr val="EAF9F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6995160" y="247802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0.97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0040" y="2880360"/>
            <a:ext cx="85039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57200" y="29718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88720" y="29718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Governança de Dados Corporativos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440680" y="29718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0.1187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995160" y="2953512"/>
            <a:ext cx="1234440" cy="29260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995160" y="295351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0.88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20040" y="3355848"/>
            <a:ext cx="8503920" cy="438912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57200" y="3447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3°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188720" y="3447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Integração de Sistemas e MDM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440680" y="34472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0.1954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995160" y="3429000"/>
            <a:ext cx="1234440" cy="29260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6995160" y="342900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20040" y="3857625"/>
            <a:ext cx="8503920" cy="1097280"/>
          </a:xfrm>
          <a:prstGeom prst="rect">
            <a:avLst/>
          </a:prstGeom>
          <a:solidFill>
            <a:srgbClr val="FFF9EC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21335" y="4096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78535" y="4096512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Limiar de relevância: distancia &gt; 0.55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978535" y="4307205"/>
            <a:ext cx="7680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script exibe a resposta apenas quando a distância COSINE é menor que 0.55 — garantindo que somente conteúdos semanticamente próximos sejam apresentados ao aluno.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B3A52">
              <a:alpha val="50196"/>
            </a:srgbClr>
          </a:solidFill>
          <a:ln cap="flat" cmpd="sng" w="12700">
            <a:solidFill>
              <a:srgbClr val="1B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7132320" y="2011680"/>
            <a:ext cx="2926080" cy="2926080"/>
          </a:xfrm>
          <a:prstGeom prst="ellipse">
            <a:avLst/>
          </a:prstGeom>
          <a:solidFill>
            <a:srgbClr val="00A896">
              <a:alpha val="20000"/>
            </a:srgbClr>
          </a:solidFill>
          <a:ln cap="flat" cmpd="sng" w="12700">
            <a:solidFill>
              <a:srgbClr val="00A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502920" y="457200"/>
            <a:ext cx="91440" cy="347472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777240" y="41148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77240" y="1207008"/>
            <a:ext cx="237744" cy="23774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1170432" y="117957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 23ai introduz o tipo nativo VECTOR, sem precisar de extensões externas.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777240" y="2029968"/>
            <a:ext cx="237744" cy="23774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170432" y="200253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semântica com VECTOR_DISTANCE supera busca textual ao capturar significado.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77240" y="2852928"/>
            <a:ext cx="237744" cy="23774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1170432" y="282549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Coerência entre modelo, dimensão (384) e métrica (COSINE) é crítica.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777240" y="3675888"/>
            <a:ext cx="237744" cy="23774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170432" y="364845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para sistemas RAG (Retrieval-Augmented Generation) com IA generativa.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0" y="4576572"/>
            <a:ext cx="9144000" cy="566928"/>
          </a:xfrm>
          <a:prstGeom prst="rect">
            <a:avLst/>
          </a:prstGeom>
          <a:solidFill>
            <a:srgbClr val="0A141F"/>
          </a:solidFill>
          <a:ln cap="flat" cmpd="sng" w="12700">
            <a:solidFill>
              <a:srgbClr val="0A14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274320" y="46405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Referências: docs.oracle.com/database/23/vecse  ·  sbert.net  ·  ollama.com  ·  oracledb (python-oracledb)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